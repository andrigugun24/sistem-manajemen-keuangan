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914400"/>
            <a:ext cx="1371600" cy="2540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5F7D95"/>
                </a:solidFill>
                <a:latin typeface="Montserrat"/>
              </a:defRPr>
            </a:pPr>
            <a:r>
              <a:t>SIDANG SKRIPSI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02124"/>
                </a:solidFill>
                <a:latin typeface="Vidaloka"/>
              </a:rPr>
              <a:t>Rancang Bangun Sistem Informasi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02124"/>
                </a:solidFill>
                <a:latin typeface="Vidaloka"/>
              </a:rPr>
              <a:t>Manajemen Keuangan Terintegrasi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02124"/>
                </a:solidFill>
                <a:latin typeface="Vidaloka"/>
              </a:rPr>
              <a:t>Berbasis Web pada Pondok Pesantren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02124"/>
                </a:solidFill>
                <a:latin typeface="Vidaloka"/>
              </a:rPr>
              <a:t>Latahzan Citeras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F7D95"/>
                </a:solidFill>
                <a:latin typeface="Montserrat"/>
              </a:defRPr>
            </a:pPr>
            <a:r>
              <a:t>Menggunakan Framework Laravel dan 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20440"/>
            <a:ext cx="2743200" cy="12700"/>
          </a:xfrm>
          <a:prstGeom prst="rect">
            <a:avLst/>
          </a:prstGeom>
          <a:solidFill>
            <a:srgbClr val="C9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657600"/>
            <a:ext cx="41148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dirty="0" err="1">
                <a:solidFill>
                  <a:srgbClr val="9E9E9E"/>
                </a:solidFill>
                <a:latin typeface="Montserrat"/>
              </a:rPr>
              <a:t>Disusun</a:t>
            </a:r>
            <a:r>
              <a:rPr sz="900" b="0" dirty="0">
                <a:solidFill>
                  <a:srgbClr val="9E9E9E"/>
                </a:solidFill>
                <a:latin typeface="Montserrat"/>
              </a:rPr>
              <a:t> Oleh:</a:t>
            </a:r>
          </a:p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202124"/>
                </a:solidFill>
                <a:latin typeface="Vidaloka"/>
              </a:rPr>
              <a:t>Andri Gugun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4D4D4D"/>
                </a:solidFill>
                <a:latin typeface="Montserrat"/>
              </a:rPr>
              <a:t>NIM: </a:t>
            </a:r>
            <a:r>
              <a:rPr lang="en-US" sz="1000" dirty="0">
                <a:solidFill>
                  <a:srgbClr val="4D4D4D"/>
                </a:solidFill>
                <a:latin typeface="Montserrat"/>
              </a:rPr>
              <a:t>221011402928</a:t>
            </a:r>
            <a:endParaRPr sz="1000" b="0" dirty="0">
              <a:solidFill>
                <a:srgbClr val="4D4D4D"/>
              </a:solidFill>
              <a:latin typeface="Montserrat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4D4D4D"/>
                </a:solidFill>
                <a:latin typeface="Montserrat"/>
              </a:rPr>
              <a:t>Dosen </a:t>
            </a:r>
            <a:r>
              <a:rPr sz="1000" b="0" dirty="0" err="1">
                <a:solidFill>
                  <a:srgbClr val="4D4D4D"/>
                </a:solidFill>
                <a:latin typeface="Montserrat"/>
              </a:rPr>
              <a:t>Pembimbing</a:t>
            </a:r>
            <a:r>
              <a:rPr sz="1000" b="0" dirty="0">
                <a:solidFill>
                  <a:srgbClr val="4D4D4D"/>
                </a:solidFill>
                <a:latin typeface="Montserrat"/>
              </a:rPr>
              <a:t>: </a:t>
            </a:r>
            <a:r>
              <a:rPr lang="en-US" sz="1000" dirty="0">
                <a:solidFill>
                  <a:srgbClr val="4D4D4D"/>
                </a:solidFill>
                <a:latin typeface="Montserrat"/>
              </a:rPr>
              <a:t>Achmad Sehan, </a:t>
            </a:r>
            <a:r>
              <a:rPr lang="en-US" sz="1000" dirty="0" err="1">
                <a:solidFill>
                  <a:srgbClr val="4D4D4D"/>
                </a:solidFill>
                <a:latin typeface="Montserrat"/>
              </a:rPr>
              <a:t>S.Kom</a:t>
            </a:r>
            <a:r>
              <a:rPr lang="en-US" sz="1000" dirty="0">
                <a:solidFill>
                  <a:srgbClr val="4D4D4D"/>
                </a:solidFill>
                <a:latin typeface="Montserrat"/>
              </a:rPr>
              <a:t>., </a:t>
            </a:r>
            <a:r>
              <a:rPr lang="en-US" sz="1000" dirty="0" err="1">
                <a:solidFill>
                  <a:srgbClr val="4D4D4D"/>
                </a:solidFill>
                <a:latin typeface="Montserrat"/>
              </a:rPr>
              <a:t>M.Kom</a:t>
            </a:r>
            <a:endParaRPr sz="1000" b="0" dirty="0">
              <a:solidFill>
                <a:srgbClr val="4D4D4D"/>
              </a:solidFill>
              <a:latin typeface="Montserrat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8000" y="548640"/>
            <a:ext cx="2286000" cy="2286000"/>
          </a:xfrm>
          <a:prstGeom prst="ellipse">
            <a:avLst/>
          </a:prstGeom>
          <a:solidFill>
            <a:srgbClr val="E3E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0" y="822960"/>
            <a:ext cx="1737360" cy="1737360"/>
          </a:xfrm>
          <a:prstGeom prst="ellipse">
            <a:avLst/>
          </a:prstGeom>
          <a:solidFill>
            <a:srgbClr val="C9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2514600" cy="3810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F7D95"/>
                </a:solidFill>
                <a:latin typeface="Vidaloka"/>
              </a:defRPr>
            </a:pPr>
            <a:r>
              <a:t>Kondisi Saat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Pondok Pesantren Latahzan Citeras memiliki aktivitas transaksi yang beragam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Meliputi SPP, tabungan santri, gaji guru, dan arus kas operasional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Pencatatan masih mengandalkan buku besar fisik secara 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25880"/>
            <a:ext cx="2514600" cy="3810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3756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445D73"/>
                </a:solidFill>
                <a:latin typeface="Vidaloka"/>
              </a:defRPr>
            </a:pPr>
            <a:r>
              <a:t>Masalah yang Timbul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Rentan terjadi human error dalam perhitungan manual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Proses rekapitulasi lambat, laporan sering terlambat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Orang tua harus menunggu lama untuk validasi riwayat pembayaran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25880"/>
            <a:ext cx="2514600" cy="38100"/>
          </a:xfrm>
          <a:prstGeom prst="rect">
            <a:avLst/>
          </a:prstGeom>
          <a:solidFill>
            <a:srgbClr val="79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994A9"/>
                </a:solidFill>
                <a:latin typeface="Vidaloka"/>
              </a:defRPr>
            </a:pPr>
            <a:r>
              <a:t>Urgensi Digitalisasi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2880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Keterlambatan birokrasi menghambat pengambilan kebijakan taktis pimpinan yayasan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Fragmentasi data menyulitkan audit dan transparansi keuangan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D4D4D"/>
                </a:solidFill>
                <a:latin typeface="Montserrat"/>
              </a:rPr>
              <a:t>•  Migrasi ke ekosistem digital menjadi sangat mendesak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Rumusan Masalah &amp; Tujuan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280160"/>
            <a:ext cx="3657600" cy="3810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F7D95"/>
                </a:solidFill>
                <a:latin typeface="Vidaloka"/>
              </a:defRPr>
            </a:pPr>
            <a:r>
              <a:t>Rumusan Masalah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874519"/>
            <a:ext cx="365760" cy="36576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1109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D4D4D"/>
                </a:solidFill>
                <a:latin typeface="Montserrat"/>
              </a:defRPr>
            </a:pPr>
            <a:r>
              <a:t>Bagaimana memformulasikan arsitektur sistem digital untuk memangkas kelambatan birokrasi pembukuan konvensional?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651759"/>
            <a:ext cx="365760" cy="36576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68833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5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D4D4D"/>
                </a:solidFill>
                <a:latin typeface="Montserrat"/>
              </a:defRPr>
            </a:pPr>
            <a:r>
              <a:t>Bagaimana menerapkan komputasi otomatis untuk menekan human error?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3428999"/>
            <a:ext cx="365760" cy="36576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46557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289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D4D4D"/>
                </a:solidFill>
                <a:latin typeface="Montserrat"/>
              </a:defRPr>
            </a:pPr>
            <a:r>
              <a:t>Bagaimana memfasilitasi transparansi informasi finansial bagi wali santri?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280160"/>
            <a:ext cx="3657600" cy="3810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45D73"/>
                </a:solidFill>
                <a:latin typeface="Vidaloka"/>
              </a:defRPr>
            </a:pPr>
            <a:r>
              <a:t>Tujuan Penelitian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1874519"/>
            <a:ext cx="365760" cy="365760"/>
          </a:xfrm>
          <a:prstGeom prst="ellipse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191109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187451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D4D4D"/>
                </a:solidFill>
                <a:latin typeface="Montserrat"/>
              </a:defRPr>
            </a:pPr>
            <a:r>
              <a:t>Mentransformasi efisiensi manajemen pembukuan dari manual ke digital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0" y="2651759"/>
            <a:ext cx="365760" cy="365760"/>
          </a:xfrm>
          <a:prstGeom prst="ellipse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68833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65175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D4D4D"/>
                </a:solidFill>
                <a:latin typeface="Montserrat"/>
              </a:defRPr>
            </a:pPr>
            <a:r>
              <a:t>Mengimplementasikan algoritma otomatis untuk akurasi perhitungan saldo kas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0" y="3428999"/>
            <a:ext cx="365760" cy="365760"/>
          </a:xfrm>
          <a:prstGeom prst="ellipse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46557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4289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D4D4D"/>
                </a:solidFill>
                <a:latin typeface="Montserrat"/>
              </a:defRPr>
            </a:pPr>
            <a:r>
              <a:t>Menyediakan media transparansi yang valid bagi orang tua santri dan pimpinan yayasan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Batasan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7717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F7D95"/>
                </a:solidFill>
                <a:latin typeface="Montserrat"/>
              </a:defRPr>
            </a:pPr>
            <a:r>
              <a:t>Ruang lingkup dan fokus penelitian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08760"/>
            <a:ext cx="50800" cy="109728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F7D95"/>
                </a:solidFill>
                <a:latin typeface="Vidaloka"/>
              </a:defRPr>
            </a:pPr>
            <a:r>
              <a:t>Ruang Lingkup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745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t>Dioperasikan secara eksklusif untuk kebutuhan internal Pondok Pesantren Latahzan Citeras.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8032" y="1508760"/>
            <a:ext cx="50800" cy="109728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10912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5D73"/>
                </a:solidFill>
                <a:latin typeface="Vidaloka"/>
              </a:defRPr>
            </a:pPr>
            <a:r>
              <a:t>Fitur Inti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18745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t>Manajemen SPP bulanan, tabungan santri, penggajian tenaga pendidik, dan laporan pos kas operasional.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971800"/>
            <a:ext cx="50800" cy="1097280"/>
          </a:xfrm>
          <a:prstGeom prst="rect">
            <a:avLst/>
          </a:prstGeom>
          <a:solidFill>
            <a:srgbClr val="79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994A9"/>
                </a:solidFill>
                <a:latin typeface="Vidaloka"/>
              </a:defRPr>
            </a:pPr>
            <a:r>
              <a:t>Teknologi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t>Arsitektur Web (SPA) dengan Laravel (Backend), React + Inertia.js (Frontend), dan MySQL (Database).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2971800"/>
            <a:ext cx="50800" cy="1097280"/>
          </a:xfrm>
          <a:prstGeom prst="rect">
            <a:avLst/>
          </a:prstGeom>
          <a:solidFill>
            <a:srgbClr val="86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0912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69FB1"/>
                </a:solidFill>
                <a:latin typeface="Vidaloka"/>
              </a:defRPr>
            </a:pPr>
            <a:r>
              <a:t>Pembatasan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t>Belum menggunakan payment gateway pihak ketiga. Verifikasi bukti transfer masih dilakukan manual oleh bendahara.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Metodologi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280160"/>
            <a:ext cx="3200400" cy="3810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F7D95"/>
                </a:solidFill>
                <a:latin typeface="Vidaloka"/>
              </a:defRPr>
            </a:pPr>
            <a:r>
              <a:t>Pengumpulan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Observasi: Workflow pencatatan manual di pesantren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Wawancara: Dengan bendahara dan pengurus yayasan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Studi Pustaka: Referensi jurnal dan buku terkait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80160"/>
            <a:ext cx="3657600" cy="3810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5D73"/>
                </a:solidFill>
                <a:latin typeface="Vidaloka"/>
              </a:defRPr>
            </a:pPr>
            <a:r>
              <a:t>Metode Pengembangan: Agile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t>Menggunakan Agile Development yang adaptif terhadap perubahan kebutuhan secara iterasi bertahap.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E3E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3200400"/>
            <a:ext cx="411480" cy="41148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Formulasi</a:t>
            </a:r>
            <a:br/>
            <a:r>
              <a:t>Kebutuhan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9D4DC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2194560" y="3200400"/>
            <a:ext cx="411480" cy="41148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931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Pemodelan</a:t>
            </a:r>
            <a:br/>
            <a:r>
              <a:t>UML &amp;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9D4DC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3566160" y="3200400"/>
            <a:ext cx="411480" cy="41148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Develop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931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Konstruksi</a:t>
            </a:r>
            <a:br/>
            <a:r>
              <a:t>Kode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9D4DC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200400"/>
            <a:ext cx="411480" cy="41148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931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Validasi</a:t>
            </a:r>
            <a:br/>
            <a:r>
              <a:t>Mutu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9D4DC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3200400"/>
            <a:ext cx="411480" cy="41148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931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Rilis</a:t>
            </a:r>
            <a:br/>
            <a:r>
              <a:t>Sistem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9D4DC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7680960" y="3200400"/>
            <a:ext cx="411480" cy="41148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7033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931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Evaluasi</a:t>
            </a:r>
            <a:br/>
            <a:r>
              <a:t>&amp; Iterasi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Sistem Berjalan vs Sistem Usulan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840480" cy="3200400"/>
          </a:xfrm>
          <a:prstGeom prst="roundRect">
            <a:avLst/>
          </a:prstGeom>
          <a:solidFill>
            <a:srgbClr val="E3E9ED"/>
          </a:solidFill>
          <a:ln w="9525">
            <a:solidFill>
              <a:srgbClr val="C9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5D73"/>
                </a:solidFill>
                <a:latin typeface="Vidaloka"/>
              </a:defRPr>
            </a:pPr>
            <a:r>
              <a:t>Sistem Berjalan (Manual)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Montserrat"/>
              </a:rPr>
              <a:t>✗  </a:t>
            </a:r>
            <a:r>
              <a:rPr sz="900" b="0">
                <a:solidFill>
                  <a:srgbClr val="4D4D4D"/>
                </a:solidFill>
                <a:latin typeface="Montserrat"/>
              </a:rPr>
              <a:t>Pencatatan SPP, tabungan, dan gaji dilakukan secara manual (kalkulator &amp; kertas)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Montserrat"/>
              </a:rPr>
              <a:t>✗  </a:t>
            </a:r>
            <a:r>
              <a:rPr sz="900" b="0">
                <a:solidFill>
                  <a:srgbClr val="4D4D4D"/>
                </a:solidFill>
                <a:latin typeface="Montserrat"/>
              </a:rPr>
              <a:t>Arsip buku besar rentan hilang atau rusak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Montserrat"/>
              </a:rPr>
              <a:t>✗  </a:t>
            </a:r>
            <a:r>
              <a:rPr sz="900" b="0">
                <a:solidFill>
                  <a:srgbClr val="4D4D4D"/>
                </a:solidFill>
                <a:latin typeface="Montserrat"/>
              </a:rPr>
              <a:t>Proses rekapitulasi lambat dan rentan human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Montserrat"/>
              </a:rPr>
              <a:t>✗  </a:t>
            </a:r>
            <a:r>
              <a:rPr sz="900" b="0">
                <a:solidFill>
                  <a:srgbClr val="4D4D4D"/>
                </a:solidFill>
                <a:latin typeface="Montserrat"/>
              </a:rPr>
              <a:t>Tidak ada transparansi informasi bagi orang tua santri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34440"/>
            <a:ext cx="3840480" cy="3200400"/>
          </a:xfrm>
          <a:prstGeom prst="roundRect">
            <a:avLst/>
          </a:prstGeom>
          <a:solidFill>
            <a:srgbClr val="E3E9ED"/>
          </a:solidFill>
          <a:ln w="9525">
            <a:solidFill>
              <a:srgbClr val="C9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F7D95"/>
                </a:solidFill>
                <a:latin typeface="Vidaloka"/>
              </a:defRPr>
            </a:pPr>
            <a:r>
              <a:t>Sistem Usulan (Digital)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Montserrat"/>
              </a:rPr>
              <a:t>✓  </a:t>
            </a:r>
            <a:r>
              <a:rPr sz="900" b="0">
                <a:solidFill>
                  <a:srgbClr val="4D4D4D"/>
                </a:solidFill>
                <a:latin typeface="Montserrat"/>
              </a:rPr>
              <a:t>Sentralisasi data dalam satu database MySQL yang 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423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Montserrat"/>
              </a:rPr>
              <a:t>✓  </a:t>
            </a:r>
            <a:r>
              <a:rPr sz="900" b="0">
                <a:solidFill>
                  <a:srgbClr val="4D4D4D"/>
                </a:solidFill>
                <a:latin typeface="Montserrat"/>
              </a:rPr>
              <a:t>Otomatisasi perhitungan tagihan SPP, saldo tabungan, dan slip gaji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017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Montserrat"/>
              </a:rPr>
              <a:t>✓  </a:t>
            </a:r>
            <a:r>
              <a:rPr sz="900" b="0">
                <a:solidFill>
                  <a:srgbClr val="4D4D4D"/>
                </a:solidFill>
                <a:latin typeface="Montserrat"/>
              </a:rPr>
              <a:t>Generate dokumen nota/kuitansi dan slip gaji secara digital (PDF)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611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Montserrat"/>
              </a:rPr>
              <a:t>✓  </a:t>
            </a:r>
            <a:r>
              <a:rPr sz="900" b="0">
                <a:solidFill>
                  <a:srgbClr val="4D4D4D"/>
                </a:solidFill>
                <a:latin typeface="Montserrat"/>
              </a:rPr>
              <a:t>Sistem hak akses Multi-user terintegrasi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Perancangan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7717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F7D95"/>
                </a:solidFill>
                <a:latin typeface="Montserrat"/>
              </a:defRPr>
            </a:pPr>
            <a:r>
              <a:t>Use Case Diagram &amp; Aktor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325880"/>
            <a:ext cx="38100" cy="64008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5F7D95"/>
                </a:solidFill>
                <a:latin typeface="Montserrat"/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819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Kelola data master (siswa, kelas, guru), akun pengguna, dan pengaturan sistem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075688"/>
            <a:ext cx="38100" cy="64008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2075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45D73"/>
                </a:solidFill>
                <a:latin typeface="Montserrat"/>
              </a:defRPr>
            </a:pPr>
            <a:r>
              <a:t>Bendahara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31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Mengelola tagihan, proses pembayaran, mutasi tabungan, transaksi kas dan gaji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825496"/>
            <a:ext cx="38100" cy="640080"/>
          </a:xfrm>
          <a:prstGeom prst="rect">
            <a:avLst/>
          </a:prstGeom>
          <a:solidFill>
            <a:srgbClr val="79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2825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994A9"/>
                </a:solidFill>
                <a:latin typeface="Montserrat"/>
              </a:defRPr>
            </a:pPr>
            <a:r>
              <a:t>Orang Tua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815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Melihat rincian tagihan dan riwayat pembayaran anak secara real-time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3575304"/>
            <a:ext cx="38100" cy="640080"/>
          </a:xfrm>
          <a:prstGeom prst="rect">
            <a:avLst/>
          </a:prstGeom>
          <a:solidFill>
            <a:srgbClr val="86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69FB1"/>
                </a:solidFill>
                <a:latin typeface="Montserrat"/>
              </a:defRPr>
            </a:pPr>
            <a:r>
              <a:t>Kepsek &amp; Yayasan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8313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Memantau laporan dan statistik keuangan via Dashboard Analitik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7/13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5B77E9-67C7-1FB7-293C-FC0D51EE9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66" y="1192152"/>
            <a:ext cx="2375821" cy="3815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Perancangan Basis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7717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F7D95"/>
                </a:solidFill>
                <a:latin typeface="Montserrat"/>
              </a:defRPr>
            </a:pPr>
            <a:r>
              <a:t>Struktur database dan relasi antar entitas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25880"/>
            <a:ext cx="38100" cy="36576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44768" y="1325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F7D95"/>
                </a:solidFill>
                <a:latin typeface="Montserrat"/>
              </a:defRPr>
            </a:pPr>
            <a:r>
              <a:t>Autentikasi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32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Users, roles,, 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783080"/>
            <a:ext cx="38100" cy="36576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44768" y="1783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45D73"/>
                </a:solidFill>
                <a:latin typeface="Montserrat"/>
              </a:defRPr>
            </a:pPr>
            <a:r>
              <a:t>Akademik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Siswa, kelas,, guru, jabatan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240280"/>
            <a:ext cx="38100" cy="365760"/>
          </a:xfrm>
          <a:prstGeom prst="rect">
            <a:avLst/>
          </a:prstGeom>
          <a:solidFill>
            <a:srgbClr val="79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2240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994A9"/>
                </a:solidFill>
                <a:latin typeface="Montserrat"/>
              </a:defRPr>
            </a:pPr>
            <a:r>
              <a:t>Keuangan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Tagihan, jenis,, pembayaran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97480"/>
            <a:ext cx="38100" cy="365760"/>
          </a:xfrm>
          <a:prstGeom prst="rect">
            <a:avLst/>
          </a:prstGeom>
          <a:solidFill>
            <a:srgbClr val="86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69FB1"/>
                </a:solidFill>
                <a:latin typeface="Montserrat"/>
              </a:defRPr>
            </a:pPr>
            <a:r>
              <a:t>Kas &amp; Tabungan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D4D4D"/>
                </a:solidFill>
                <a:latin typeface="Montserrat"/>
              </a:defRPr>
            </a:pPr>
            <a:r>
              <a:t>Transaksi kas,, tabungan, 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383280"/>
            <a:ext cx="7717536" cy="2540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520440"/>
            <a:ext cx="7717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F7D95"/>
                </a:solidFill>
                <a:latin typeface="Vidaloka"/>
              </a:defRPr>
            </a:pPr>
            <a:r>
              <a:t>Keunggulan Desain: Relasi Polimorfik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40480"/>
            <a:ext cx="7717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rPr dirty="0"/>
              <a:t>Tabel </a:t>
            </a:r>
            <a:r>
              <a:rPr dirty="0" err="1"/>
              <a:t>transaksi_kas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</a:t>
            </a:r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Polimorfik</a:t>
            </a:r>
            <a:r>
              <a:rPr dirty="0"/>
              <a:t> agar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mencatat</a:t>
            </a:r>
            <a:r>
              <a:rPr dirty="0"/>
              <a:t> </a:t>
            </a:r>
            <a:r>
              <a:rPr dirty="0" err="1"/>
              <a:t>arus</a:t>
            </a:r>
            <a:r>
              <a:rPr dirty="0"/>
              <a:t> kas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dinamis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berbagai</a:t>
            </a:r>
            <a:r>
              <a:rPr dirty="0"/>
              <a:t> </a:t>
            </a:r>
            <a:r>
              <a:rPr dirty="0" err="1"/>
              <a:t>sumber</a:t>
            </a:r>
            <a:r>
              <a:rPr dirty="0"/>
              <a:t> </a:t>
            </a:r>
            <a:r>
              <a:rPr dirty="0" err="1"/>
              <a:t>transaksi</a:t>
            </a:r>
            <a:r>
              <a:rPr dirty="0"/>
              <a:t> (</a:t>
            </a:r>
            <a:r>
              <a:rPr dirty="0" err="1"/>
              <a:t>pembayaran</a:t>
            </a:r>
            <a:r>
              <a:rPr dirty="0"/>
              <a:t> SPP, </a:t>
            </a:r>
            <a:r>
              <a:rPr dirty="0" err="1"/>
              <a:t>pengeluaran</a:t>
            </a:r>
            <a:r>
              <a:rPr dirty="0"/>
              <a:t> </a:t>
            </a:r>
            <a:r>
              <a:rPr dirty="0" err="1"/>
              <a:t>gaji</a:t>
            </a:r>
            <a:r>
              <a:rPr dirty="0"/>
              <a:t>, </a:t>
            </a:r>
            <a:r>
              <a:rPr dirty="0" err="1"/>
              <a:t>dsb</a:t>
            </a:r>
            <a:r>
              <a:rPr dirty="0"/>
              <a:t>.)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redundansi</a:t>
            </a:r>
            <a:r>
              <a:rPr dirty="0"/>
              <a:t>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8/13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4712ECB-DFF8-23C4-A34B-42D359A7A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95" y="870058"/>
            <a:ext cx="5177725" cy="2467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Implementasi Antarmuka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7717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F7D95"/>
                </a:solidFill>
                <a:latin typeface="Montserrat"/>
              </a:defRPr>
            </a:pPr>
            <a:r>
              <a:t>Single Page Application — React + Inertia.js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5F7D95"/>
                </a:solidFill>
                <a:latin typeface="Montserrat"/>
              </a:defRPr>
            </a:pPr>
            <a:r>
              <a:t>Dashboard Analitik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4D4D4D"/>
                </a:solidFill>
                <a:latin typeface="Montserrat"/>
              </a:defRPr>
            </a:pPr>
            <a:r>
              <a:t>Grafik tren pemasukan vs pengeluaran dan status kepatuhan SPP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5F7D95"/>
                </a:solidFill>
                <a:latin typeface="Montserrat"/>
              </a:defRPr>
            </a:pPr>
            <a:r>
              <a:t>Form Pembayaran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520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4D4D4D"/>
                </a:solidFill>
                <a:latin typeface="Montserrat"/>
              </a:defRPr>
            </a:pPr>
            <a:r>
              <a:t>Proses pencatatan pembayaran SPP dengan validasi &amp; bukti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5F7D95"/>
                </a:solidFill>
                <a:latin typeface="Montserrat"/>
              </a:defRPr>
            </a:pPr>
            <a:r>
              <a:t>Cetak Laporan (PDF)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4D4D4D"/>
                </a:solidFill>
                <a:latin typeface="Montserrat"/>
              </a:defRPr>
            </a:pPr>
            <a:r>
              <a:t>Export dan cetak slip gaji, bukti kuitansi, dan buku kas umum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51960"/>
            <a:ext cx="7717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F7D95"/>
                </a:solidFill>
                <a:latin typeface="Montserrat"/>
              </a:defRPr>
            </a:pPr>
            <a:r>
              <a:t>Dibangun dengan pendekatan SPA yang responsif dan cepat — siap untuk 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9/13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D79F39-388B-6B9E-FAB8-699BD1CFB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2504"/>
            <a:ext cx="2514600" cy="15041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4E8165-ACB4-D55D-E430-ED964DF93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42503"/>
            <a:ext cx="2514600" cy="15041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162CCC9-8F18-4024-4DA4-2561B0CB0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42503"/>
            <a:ext cx="2514600" cy="15041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Pengujian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7717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F7D95"/>
                </a:solidFill>
                <a:latin typeface="Montserrat"/>
              </a:defRPr>
            </a:pPr>
            <a:r>
              <a:t>Black-Box Testing &amp; White-Box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71600"/>
            <a:ext cx="3657600" cy="3810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F7D95"/>
                </a:solidFill>
                <a:latin typeface="Vidaloka"/>
              </a:defRPr>
            </a:pPr>
            <a:r>
              <a:t>Black-Box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Menguji fungsionalitas seluruh antarmuka dan kesesuaian output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Seluruh fitur CRUD, transaksi, dan laporan diuji secara menyeluruh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Hasil: VALID — semua fitur berfungsi sesuai spesifikasi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657600" cy="3810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5D73"/>
                </a:solidFill>
                <a:latin typeface="Vidaloka"/>
              </a:defRPr>
            </a:pPr>
            <a:r>
              <a:t>White-Box Testing (Basis Path)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7451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Fokus pada modul krusial: logika Penarikan Tabungan (fungsi tarikStore)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Path 1: Saldo kurang → ditolak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Path 2: Data tidak ditemukan → error handling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D4D4D"/>
                </a:solidFill>
                <a:latin typeface="Montserrat"/>
              </a:rPr>
              <a:t>•  Path 3: Transaksi valid → berhasil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383280"/>
            <a:ext cx="7717536" cy="914400"/>
          </a:xfrm>
          <a:prstGeom prst="roundRect">
            <a:avLst/>
          </a:prstGeom>
          <a:solidFill>
            <a:srgbClr val="E3E9ED"/>
          </a:solidFill>
          <a:ln w="9525">
            <a:solidFill>
              <a:srgbClr val="C9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F7D95"/>
                </a:solidFill>
                <a:latin typeface="Vidaloka"/>
              </a:defRPr>
            </a:pPr>
            <a:r>
              <a:t>Kesimpulan Pengujian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4D4D4D"/>
                </a:solidFill>
                <a:latin typeface="Montserrat"/>
              </a:defRPr>
            </a:pPr>
            <a:r>
              <a:t>Seluruh skenario pengujian dinyatakan VALID dan BERHASIL. Algoritma penarikan tabungan dinyatakan aman dari cacat logika. Sistem siap digunakan secara operasional.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Kesimpulan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371600"/>
            <a:ext cx="320040" cy="320040"/>
          </a:xfrm>
          <a:prstGeom prst="ellipse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081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4D4D4D"/>
                </a:solidFill>
                <a:latin typeface="Montserrat"/>
              </a:defRPr>
            </a:pPr>
            <a:r>
              <a:t>Sistem berhasil mentransformasikan pencatatan manual menjadi digital terintegrasi, mempercepat pembuatan laporan, dan menekan angka human error.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148840"/>
            <a:ext cx="320040" cy="320040"/>
          </a:xfrm>
          <a:prstGeom prst="ellipse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1854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4D4D4D"/>
                </a:solidFill>
                <a:latin typeface="Montserrat"/>
              </a:defRPr>
            </a:pPr>
            <a:r>
              <a:t>Fragmentasi data terselesaikan — manajemen SPP, tabungan, gaji, dan kas kini berada dalam satu wadah basis data.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926080"/>
            <a:ext cx="320040" cy="320040"/>
          </a:xfrm>
          <a:prstGeom prst="ellipse">
            <a:avLst/>
          </a:prstGeom>
          <a:solidFill>
            <a:srgbClr val="79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9626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4D4D4D"/>
                </a:solidFill>
                <a:latin typeface="Montserrat"/>
              </a:defRPr>
            </a:pPr>
            <a:r>
              <a:t>Transparansi dan akuntabilitas meningkat signifikan berkat Dashboard Analitik untuk yayasan dan riwayat pembayaran real-time bagi orang tua.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703320"/>
            <a:ext cx="320040" cy="320040"/>
          </a:xfrm>
          <a:prstGeom prst="ellipse">
            <a:avLst/>
          </a:prstGeom>
          <a:solidFill>
            <a:srgbClr val="86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739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4D4D4D"/>
                </a:solidFill>
                <a:latin typeface="Montserrat"/>
              </a:defRPr>
            </a:pPr>
            <a:r>
              <a:t>Pengujian Black-Box dan White-Box membuktikan seluruh fitur berjalan valid dan algoritma aman dari cacat logika.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11480"/>
            <a:ext cx="7717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02124"/>
                </a:solidFill>
                <a:latin typeface="Vidaloka"/>
              </a:defRPr>
            </a:pPr>
            <a:r>
              <a:t>Saran &amp; Pengembangan ke Depan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325880"/>
            <a:ext cx="50800" cy="731520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F7D95"/>
                </a:solidFill>
                <a:latin typeface="Vidaloka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25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F7D95"/>
                </a:solidFill>
                <a:latin typeface="Montserrat"/>
              </a:defRPr>
            </a:pPr>
            <a:r>
              <a:t>Payment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184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D4D4D"/>
                </a:solidFill>
                <a:latin typeface="Montserrat"/>
              </a:defRPr>
            </a:pPr>
            <a:r>
              <a:t>Integrasi dengan Midtrans / Xendit untuk otomatisasi verifikasi pembayaran tanpa intervensi bendahara.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31720"/>
            <a:ext cx="50800" cy="731520"/>
          </a:xfrm>
          <a:prstGeom prst="rect">
            <a:avLst/>
          </a:prstGeom>
          <a:solidFill>
            <a:srgbClr val="44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45D73"/>
                </a:solidFill>
                <a:latin typeface="Vidalok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445D73"/>
                </a:solidFill>
                <a:latin typeface="Montserrat"/>
              </a:defRPr>
            </a:pPr>
            <a:r>
              <a:t>Aplikasi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243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D4D4D"/>
                </a:solidFill>
                <a:latin typeface="Montserrat"/>
              </a:defRPr>
            </a:pPr>
            <a:r>
              <a:t>Pengembangan aplikasi Android/iOS agar orang tua dan siswa dapat memantau saldo dan tagihan dari smartphone.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37560"/>
            <a:ext cx="50800" cy="731520"/>
          </a:xfrm>
          <a:prstGeom prst="rect">
            <a:avLst/>
          </a:prstGeom>
          <a:solidFill>
            <a:srgbClr val="799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7994A9"/>
                </a:solidFill>
                <a:latin typeface="Vidalok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994A9"/>
                </a:solidFill>
                <a:latin typeface="Montserrat"/>
              </a:defRPr>
            </a:pPr>
            <a:r>
              <a:t>Notifikasi Otomatis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301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D4D4D"/>
                </a:solidFill>
                <a:latin typeface="Montserrat"/>
              </a:defRPr>
            </a:pPr>
            <a:r>
              <a:t>Sistem pengingat jatuh tempo tagihan otomatis via WhatsApp atau Email kepada orang tua wali.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5F7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548640"/>
            <a:ext cx="2286000" cy="2286000"/>
          </a:xfrm>
          <a:prstGeom prst="ellipse">
            <a:avLst/>
          </a:prstGeom>
          <a:solidFill>
            <a:srgbClr val="E3E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0" y="822960"/>
            <a:ext cx="1737360" cy="1737360"/>
          </a:xfrm>
          <a:prstGeom prst="ellipse">
            <a:avLst/>
          </a:prstGeom>
          <a:solidFill>
            <a:srgbClr val="C9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202124"/>
                </a:solidFill>
                <a:latin typeface="Vidaloka"/>
              </a:defRPr>
            </a:pPr>
            <a: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F7D95"/>
                </a:solidFill>
                <a:latin typeface="Montserrat"/>
              </a:defRPr>
            </a:pPr>
            <a:r>
              <a:t>atas perhatian dan waktunya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468880"/>
            <a:ext cx="2286000" cy="19050"/>
          </a:xfrm>
          <a:prstGeom prst="rect">
            <a:avLst/>
          </a:prstGeom>
          <a:solidFill>
            <a:srgbClr val="C9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45D73"/>
                </a:solidFill>
                <a:latin typeface="Vidaloka"/>
              </a:defRPr>
            </a:pPr>
            <a:r>
              <a:t>Sesi Tanya Jawab &amp;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D4D4D"/>
                </a:solidFill>
                <a:latin typeface="Montserrat"/>
              </a:defRPr>
            </a:pPr>
            <a:r>
              <a:t>Silakan ajukan pertanyaan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657600"/>
            <a:ext cx="2286000" cy="12700"/>
          </a:xfrm>
          <a:prstGeom prst="rect">
            <a:avLst/>
          </a:prstGeom>
          <a:solidFill>
            <a:srgbClr val="C9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794760"/>
            <a:ext cx="4572000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dirty="0">
                <a:solidFill>
                  <a:srgbClr val="4D4D4D"/>
                </a:solidFill>
                <a:latin typeface="Montserrat"/>
              </a:rPr>
              <a:t>Andri Gugun  |  NIM:</a:t>
            </a:r>
            <a:r>
              <a:rPr lang="en-US" sz="1000" b="0" dirty="0">
                <a:solidFill>
                  <a:srgbClr val="4D4D4D"/>
                </a:solidFill>
                <a:latin typeface="Montserrat"/>
              </a:rPr>
              <a:t> 221011402928</a:t>
            </a:r>
            <a:endParaRPr sz="1000" b="0" dirty="0">
              <a:solidFill>
                <a:srgbClr val="4D4D4D"/>
              </a:solidFill>
              <a:latin typeface="Montserrat"/>
            </a:endParaRPr>
          </a:p>
          <a:p>
            <a:pPr algn="l">
              <a:spcAft>
                <a:spcPts val="400"/>
              </a:spcAft>
            </a:pPr>
            <a:r>
              <a:rPr lang="en-US" sz="900" dirty="0">
                <a:solidFill>
                  <a:srgbClr val="9E9E9E"/>
                </a:solidFill>
                <a:latin typeface="Montserrat"/>
              </a:rPr>
              <a:t>Universitas </a:t>
            </a:r>
            <a:r>
              <a:rPr lang="en-US" sz="900" dirty="0" err="1">
                <a:solidFill>
                  <a:srgbClr val="9E9E9E"/>
                </a:solidFill>
                <a:latin typeface="Montserrat"/>
              </a:rPr>
              <a:t>Pamulang</a:t>
            </a:r>
            <a:endParaRPr sz="900" b="0" dirty="0">
              <a:solidFill>
                <a:srgbClr val="9E9E9E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79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E9E9E"/>
                </a:solidFill>
                <a:latin typeface="Montserrat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952</Words>
  <Application>Microsoft Office PowerPoint</Application>
  <PresentationFormat>On-screen Show (16:9)</PresentationFormat>
  <Paragraphs>170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Montserrat</vt:lpstr>
      <vt:lpstr>Vidaloka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Andri Gugun</cp:lastModifiedBy>
  <cp:revision>4</cp:revision>
  <dcterms:created xsi:type="dcterms:W3CDTF">2013-01-27T09:14:16Z</dcterms:created>
  <dcterms:modified xsi:type="dcterms:W3CDTF">2026-07-25T03:51:06Z</dcterms:modified>
  <cp:category/>
</cp:coreProperties>
</file>