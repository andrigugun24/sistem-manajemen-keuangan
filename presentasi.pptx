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7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0286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89195"/>
            <a:ext cx="9144000" cy="137160"/>
          </a:xfrm>
          <a:prstGeom prst="rect">
            <a:avLst/>
          </a:prstGeom>
          <a:solidFill>
            <a:srgbClr val="3282B8"/>
          </a:solidFill>
          <a:ln/>
        </p:spPr>
      </p:sp>
      <p:pic>
        <p:nvPicPr>
          <p:cNvPr id="4" name="Image 0" descr="logopp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45720"/>
            <a:ext cx="640080" cy="6400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8345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0F4C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8345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RANCANG BANGUN SISTEM INFORMASI MANAJEMEN KEUANGAN TERINTEGRASI BERBASIS WEB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BBE1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Studi Kasus: Pondok Pesantren Latahzan Citeras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BBE1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Menggunakan Framework Laravel dan React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0" y="2926080"/>
            <a:ext cx="1828800" cy="0"/>
          </a:xfrm>
          <a:prstGeom prst="line">
            <a:avLst/>
          </a:prstGeom>
          <a:noFill/>
          <a:ln w="25400">
            <a:solidFill>
              <a:srgbClr val="BBE1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</a:rPr>
              <a:t>PRESENTASI SKRIPSI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Nama: Andri Gugun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NIM: 221011402928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Teknik Informatika - Universitas Pamulang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400" b="1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Latar Belakang Masalah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6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Kondisi Eksisting: Pencatatan keuangan masih mengandalkan buku besar fisik secara konvensional.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4C75"/>
                </a:solidFill>
              </a:rPr>
              <a:t>Permasalahan Utama: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3840480" cy="914400"/>
          </a:xfrm>
          <a:prstGeom prst="rect">
            <a:avLst/>
          </a:prstGeom>
          <a:solidFill>
            <a:srgbClr val="FCECEB"/>
          </a:solidFill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</a:rPr>
              <a:t>Human Error:</a:t>
            </a:r>
            <a:r>
              <a:rPr lang="en-US" sz="1400" dirty="0">
                <a:solidFill>
                  <a:srgbClr val="000000"/>
                </a:solidFill>
              </a:rPr>
              <a:t> Tingginya risiko kesalahan perhitungan saldo akhir.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0" y="2468880"/>
            <a:ext cx="3840480" cy="914400"/>
          </a:xfrm>
          <a:prstGeom prst="rect">
            <a:avLst/>
          </a:prstGeom>
          <a:solidFill>
            <a:srgbClr val="FDF3E9"/>
          </a:solidFill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7E22"/>
                </a:solidFill>
              </a:rPr>
              <a:t>Lambatnya Rekapitulasi:</a:t>
            </a:r>
            <a:r>
              <a:rPr lang="en-US" sz="1400" dirty="0">
                <a:solidFill>
                  <a:srgbClr val="000000"/>
                </a:solidFill>
              </a:rPr>
              <a:t> Laporan bulanan memakan waktu 2–3 hari.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3840480" cy="914400"/>
          </a:xfrm>
          <a:prstGeom prst="rect">
            <a:avLst/>
          </a:prstGeom>
          <a:solidFill>
            <a:srgbClr val="FEF7EC"/>
          </a:solidFill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9C12"/>
                </a:solidFill>
              </a:rPr>
              <a:t>Pencarian Data Sulit:</a:t>
            </a:r>
            <a:r>
              <a:rPr lang="en-US" sz="1400" dirty="0">
                <a:solidFill>
                  <a:srgbClr val="000000"/>
                </a:solidFill>
              </a:rPr>
              <a:t> Pelacakan riwayat tabungan memakan waktu 10–15 menit.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3657600"/>
            <a:ext cx="3840480" cy="914400"/>
          </a:xfrm>
          <a:prstGeom prst="rect">
            <a:avLst/>
          </a:prstGeom>
          <a:solidFill>
            <a:srgbClr val="F7F1F9"/>
          </a:solidFill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B59B6"/>
                </a:solidFill>
              </a:rPr>
              <a:t>Fragmentasi Data:</a:t>
            </a:r>
            <a:r>
              <a:rPr lang="en-US" sz="1400" dirty="0">
                <a:solidFill>
                  <a:srgbClr val="000000"/>
                </a:solidFill>
              </a:rPr>
              <a:t> Pengelolaan SPP, tabungan, gaji guru terpisah.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8345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400" b="1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2400" b="1" dirty="0" err="1">
                <a:solidFill>
                  <a:srgbClr val="FFFFFF"/>
                </a:solidFill>
              </a:rPr>
              <a:t>Rumusan</a:t>
            </a:r>
            <a:r>
              <a:rPr lang="en-US" sz="2400" b="1" dirty="0">
                <a:solidFill>
                  <a:srgbClr val="FFFFFF"/>
                </a:solidFill>
              </a:rPr>
              <a:t> &amp; Batasan Masalah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45720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Rumusan Masalah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840480" cy="182880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190500" tIns="190500" rIns="190500" bIns="190500" rtlCol="0" anchor="ctr"/>
          <a:lstStyle/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</a:rPr>
              <a:t>1. Merancang arsitektur sistem terintegrasi?</a:t>
            </a:r>
            <a:endParaRPr lang="en-US" sz="14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</a:rPr>
              <a:t>2. Mengotomatisasi SPP, tabungan, gaji?</a:t>
            </a:r>
            <a:endParaRPr lang="en-US" sz="14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</a:rPr>
              <a:t>3. Menyajikan laporan secara real-time?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46320" y="1097280"/>
            <a:ext cx="3840480" cy="457200"/>
          </a:xfrm>
          <a:prstGeom prst="rect">
            <a:avLst/>
          </a:prstGeom>
          <a:solidFill>
            <a:srgbClr val="3282B8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1097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Batasan Masalah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46320" y="1554480"/>
            <a:ext cx="3840480" cy="182880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190500" tIns="190500" rIns="190500" bIns="190500" rtlCol="0" anchor="ctr"/>
          <a:lstStyle/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</a:rPr>
              <a:t>1. Diterapkan untuk operasional Yayasan Latahzan Citeras.</a:t>
            </a:r>
            <a:endParaRPr lang="en-US" sz="14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</a:rPr>
              <a:t>2. Modul: SPP, Tabungan, Penggajian, Kas.</a:t>
            </a:r>
            <a:endParaRPr lang="en-US" sz="14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</a:rPr>
              <a:t>3. Validasi pembayaran berbasis transfer manual oleh bendahara.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8345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400" b="1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Tujuan &amp; Manfaat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4C75"/>
                </a:solidFill>
              </a:rPr>
              <a:t>Tujuan Penelitian: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400" y="1658983"/>
            <a:ext cx="8229600" cy="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342900" indent="-342900">
              <a:lnSpc>
                <a:spcPts val="3000"/>
              </a:lnSpc>
              <a:buSzPct val="100000"/>
              <a:buChar char="✓"/>
            </a:pPr>
            <a:r>
              <a:rPr lang="en-US" sz="1600" dirty="0">
                <a:solidFill>
                  <a:srgbClr val="1B262C"/>
                </a:solidFill>
              </a:rPr>
              <a:t>Mengembangkan aplikasi manajemen keuangan berbasis web yang terintegrasi.</a:t>
            </a:r>
            <a:endParaRPr lang="en-US" sz="1600" dirty="0"/>
          </a:p>
          <a:p>
            <a:pPr marL="342900" indent="-342900">
              <a:lnSpc>
                <a:spcPts val="3000"/>
              </a:lnSpc>
              <a:buSzPct val="100000"/>
              <a:buChar char="✓"/>
            </a:pPr>
            <a:r>
              <a:rPr lang="en-US" sz="1600" dirty="0">
                <a:solidFill>
                  <a:srgbClr val="1B262C"/>
                </a:solidFill>
              </a:rPr>
              <a:t>Menerapkan algoritma komputasi otomatis untuk menghilangkan kesalahan hitung.</a:t>
            </a:r>
            <a:endParaRPr lang="en-US" sz="1600" dirty="0"/>
          </a:p>
          <a:p>
            <a:pPr marL="342900" indent="-342900">
              <a:lnSpc>
                <a:spcPts val="3000"/>
              </a:lnSpc>
              <a:buSzPct val="100000"/>
              <a:buChar char="✓"/>
            </a:pPr>
            <a:r>
              <a:rPr lang="en-US" sz="1600" dirty="0">
                <a:solidFill>
                  <a:srgbClr val="1B262C"/>
                </a:solidFill>
              </a:rPr>
              <a:t>Menyajikan laporan ekspor instan demi mempercepat pengambilan keputusan.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282B8"/>
                </a:solidFill>
              </a:rPr>
              <a:t>Manfaat: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3840480" cy="914400"/>
          </a:xfrm>
          <a:prstGeom prst="rect">
            <a:avLst/>
          </a:prstGeom>
          <a:solidFill>
            <a:srgbClr val="E8F4F8"/>
          </a:solidFill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</a:rPr>
              <a:t>Bagi Pesantren:</a:t>
            </a:r>
            <a:r>
              <a:rPr lang="en-US" sz="1400" dirty="0">
                <a:solidFill>
                  <a:srgbClr val="000000"/>
                </a:solidFill>
              </a:rPr>
              <a:t> Akselerasi efisiensi kerja bendahara &amp; transparansi keuangan.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0" y="3474720"/>
            <a:ext cx="3840480" cy="914400"/>
          </a:xfrm>
          <a:prstGeom prst="rect">
            <a:avLst/>
          </a:prstGeom>
          <a:solidFill>
            <a:srgbClr val="E8F4F8"/>
          </a:solidFill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</a:rPr>
              <a:t>Bagi Wali Santri:</a:t>
            </a:r>
            <a:r>
              <a:rPr lang="en-US" sz="1400" dirty="0">
                <a:solidFill>
                  <a:srgbClr val="000000"/>
                </a:solidFill>
              </a:rPr>
              <a:t> Kemudahan dan kepastian informasi transaksi.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8345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400" b="1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2400" b="1" dirty="0" err="1">
                <a:solidFill>
                  <a:srgbClr val="FFFFFF"/>
                </a:solidFill>
              </a:rPr>
              <a:t>Arsitektur</a:t>
            </a:r>
            <a:r>
              <a:rPr lang="en-US" sz="2400" b="1" dirty="0">
                <a:solidFill>
                  <a:srgbClr val="FFFFFF"/>
                </a:solidFill>
              </a:rPr>
              <a:t> Sistem (Modern Monolith)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4C75"/>
                </a:solidFill>
              </a:rPr>
              <a:t>Komponen Teknologi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828800" cy="914400"/>
          </a:xfrm>
          <a:prstGeom prst="rect">
            <a:avLst/>
          </a:prstGeom>
          <a:solidFill>
            <a:srgbClr val="61DAFB"/>
          </a:solidFill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00000"/>
                </a:solidFill>
              </a:rPr>
              <a:t>Frontend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00000"/>
                </a:solidFill>
              </a:rPr>
              <a:t>React JS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377440" y="1920240"/>
            <a:ext cx="457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F4C75"/>
                </a:solidFill>
              </a:rPr>
              <a:t>↔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926080" y="1645920"/>
            <a:ext cx="1828800" cy="914400"/>
          </a:xfrm>
          <a:prstGeom prst="rect">
            <a:avLst/>
          </a:prstGeom>
          <a:solidFill>
            <a:srgbClr val="9553E9"/>
          </a:solidFill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Bridge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Inertia.js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46320" y="1920240"/>
            <a:ext cx="457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F4C75"/>
                </a:solidFill>
              </a:rPr>
              <a:t>↔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394960" y="1645920"/>
            <a:ext cx="1828800" cy="914400"/>
          </a:xfrm>
          <a:prstGeom prst="rect">
            <a:avLst/>
          </a:prstGeom>
          <a:solidFill>
            <a:srgbClr val="FF2D20"/>
          </a:solidFill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Backend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Laravel MVC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394960" y="2926080"/>
            <a:ext cx="1828800" cy="914400"/>
          </a:xfrm>
          <a:prstGeom prst="rect">
            <a:avLst/>
          </a:prstGeom>
          <a:solidFill>
            <a:srgbClr val="00758F"/>
          </a:solidFill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Database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MySQL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172200" y="2560320"/>
            <a:ext cx="274320" cy="365760"/>
          </a:xfrm>
          <a:prstGeom prst="downArrow">
            <a:avLst/>
          </a:prstGeom>
          <a:solidFill>
            <a:srgbClr val="0F4C7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B262C"/>
                </a:solidFill>
              </a:rPr>
              <a:t>Pendekatan Modern Monolith meminimalisir kompleksitas API eksternal.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8345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400" b="1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2400" b="1" dirty="0" err="1">
                <a:solidFill>
                  <a:srgbClr val="FFFFFF"/>
                </a:solidFill>
              </a:rPr>
              <a:t>Metodologi</a:t>
            </a:r>
            <a:r>
              <a:rPr lang="en-US" sz="2400" b="1" dirty="0">
                <a:solidFill>
                  <a:srgbClr val="FFFFFF"/>
                </a:solidFill>
              </a:rPr>
              <a:t> &amp; Pengujian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78411"/>
            <a:ext cx="8046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b="1" dirty="0">
              <a:solidFill>
                <a:srgbClr val="0F4C75"/>
              </a:solidFill>
            </a:endParaRPr>
          </a:p>
          <a:p>
            <a:pPr marL="0" indent="0">
              <a:buNone/>
            </a:pPr>
            <a:endParaRPr lang="en-US" sz="1600" b="1" dirty="0">
              <a:solidFill>
                <a:srgbClr val="0F4C75"/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0F4C75"/>
                </a:solidFill>
              </a:rPr>
              <a:t>Model Pengembangan: </a:t>
            </a:r>
            <a:r>
              <a:rPr lang="en-US" sz="1600" dirty="0">
                <a:solidFill>
                  <a:srgbClr val="1B262C"/>
                </a:solidFill>
              </a:rPr>
              <a:t>AGILE (Perencanaan, Desain, Pengembangan, Pengujian, Evaluasi)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4C75"/>
                </a:solidFill>
              </a:rPr>
              <a:t>Teknik Pengumpulan Data: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B262C"/>
                </a:solidFill>
              </a:rPr>
              <a:t>Observasi langsung &amp; Wawancara mendalam.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4C75"/>
                </a:solidFill>
              </a:rPr>
              <a:t>Metode Pengujian: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▶"/>
            </a:pPr>
            <a:r>
              <a:rPr lang="en-US" sz="1500" b="1" dirty="0">
                <a:solidFill>
                  <a:srgbClr val="000000"/>
                </a:solidFill>
              </a:rPr>
              <a:t>Black Box Testing:</a:t>
            </a:r>
            <a:r>
              <a:rPr lang="en-US" sz="1500" dirty="0">
                <a:solidFill>
                  <a:srgbClr val="000000"/>
                </a:solidFill>
              </a:rPr>
              <a:t> Fungsionalitas seluruh modul sistem.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▶"/>
            </a:pPr>
            <a:r>
              <a:rPr lang="en-US" sz="1500" b="1" dirty="0">
                <a:solidFill>
                  <a:srgbClr val="000000"/>
                </a:solidFill>
              </a:rPr>
              <a:t>White Box Testing:</a:t>
            </a:r>
            <a:r>
              <a:rPr lang="en-US" sz="1500" dirty="0">
                <a:solidFill>
                  <a:srgbClr val="000000"/>
                </a:solidFill>
              </a:rPr>
              <a:t> Basis Path Testing (Cyclomatic Complexity).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8345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400" b="1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2400" b="1" dirty="0" err="1">
                <a:solidFill>
                  <a:srgbClr val="FFFFFF"/>
                </a:solidFill>
              </a:rPr>
              <a:t>Perancangan</a:t>
            </a:r>
            <a:r>
              <a:rPr lang="en-US" sz="2400" b="1" dirty="0">
                <a:solidFill>
                  <a:srgbClr val="FFFFFF"/>
                </a:solidFill>
              </a:rPr>
              <a:t> Sistem (UML &amp; </a:t>
            </a:r>
            <a:r>
              <a:rPr lang="en-US" sz="2400" b="1" dirty="0" err="1">
                <a:solidFill>
                  <a:srgbClr val="FFFFFF"/>
                </a:solidFill>
              </a:rPr>
              <a:t>DataBase</a:t>
            </a:r>
            <a:r>
              <a:rPr lang="en-US" sz="2400" b="1" dirty="0">
                <a:solidFill>
                  <a:srgbClr val="FFFFFF"/>
                </a:solidFill>
              </a:rPr>
              <a:t>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45720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Use Case Diagram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46320" y="1097280"/>
            <a:ext cx="3840480" cy="4572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1097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Skema Relasi Basis Data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8345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BA962D1-A354-04B0-2EAD-B19CBA8592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59" y="1554620"/>
            <a:ext cx="2346961" cy="337883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92B155E-78F8-510B-CCF4-41F3884C99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7143" y="1730922"/>
            <a:ext cx="3906430" cy="30262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400" b="1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Modul &amp; Fitur Utama (UI)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731520" cy="731520"/>
          </a:xfrm>
          <a:prstGeom prst="rect">
            <a:avLst/>
          </a:prstGeom>
          <a:solidFill>
            <a:srgbClr val="0F4C7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1097280"/>
            <a:ext cx="6858000" cy="73152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</a:rPr>
              <a:t>Dashboard Utama:</a:t>
            </a:r>
            <a:r>
              <a:rPr lang="en-US" sz="1600" dirty="0">
                <a:solidFill>
                  <a:srgbClr val="000000"/>
                </a:solidFill>
              </a:rPr>
              <a:t> Grafik performa keuangan &amp; widget real-time.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731520" cy="731520"/>
          </a:xfrm>
          <a:prstGeom prst="rect">
            <a:avLst/>
          </a:prstGeom>
          <a:solidFill>
            <a:srgbClr val="3282B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71600" y="2011680"/>
            <a:ext cx="6858000" cy="73152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</a:rPr>
              <a:t>Modul SPP &amp; POS:</a:t>
            </a:r>
            <a:r>
              <a:rPr lang="en-US" sz="1600" dirty="0">
                <a:solidFill>
                  <a:srgbClr val="000000"/>
                </a:solidFill>
              </a:rPr>
              <a:t> Form pembayaran kasir dan otomatisasi kuitansi.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731520" cy="731520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71600" y="2926080"/>
            <a:ext cx="6858000" cy="73152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</a:rPr>
              <a:t>Modul Tabungan Santri:</a:t>
            </a:r>
            <a:r>
              <a:rPr lang="en-US" sz="1600" dirty="0">
                <a:solidFill>
                  <a:srgbClr val="000000"/>
                </a:solidFill>
              </a:rPr>
              <a:t> Pencatatan setor/tarik tunai &amp; mutasi.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731520" cy="731520"/>
          </a:xfrm>
          <a:prstGeom prst="rect">
            <a:avLst/>
          </a:prstGeom>
          <a:solidFill>
            <a:srgbClr val="2980B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0" y="3840480"/>
            <a:ext cx="6858000" cy="73152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</a:rPr>
              <a:t>Modul Data Master:</a:t>
            </a:r>
            <a:r>
              <a:rPr lang="en-US" sz="1600" dirty="0">
                <a:solidFill>
                  <a:srgbClr val="000000"/>
                </a:solidFill>
              </a:rPr>
              <a:t> Manajemen kelas, siswa, guru, dan staf.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8345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400" b="1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2400" b="1" dirty="0" err="1">
                <a:solidFill>
                  <a:srgbClr val="FFFFFF"/>
                </a:solidFill>
              </a:rPr>
              <a:t>Analisis</a:t>
            </a:r>
            <a:r>
              <a:rPr lang="en-US" sz="2400" b="1" dirty="0">
                <a:solidFill>
                  <a:srgbClr val="FFFFFF"/>
                </a:solidFill>
              </a:rPr>
              <a:t> Efisiensi &amp; Hasil Uji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37744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Aktivitas Administrasi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7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Cara Konvensional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7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Sistem Baru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7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Penghematan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</a:rPr>
                        <a:t>Input SPP &amp; Resi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</a:rPr>
                        <a:t>5 – 8 menit / santri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</a:rPr>
                        <a:t>&lt; 30 detik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7AE60"/>
                          </a:solidFill>
                        </a:rPr>
                        <a:t>91.6%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</a:rPr>
                        <a:t>Rekap Laporan Bulanan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</a:rPr>
                        <a:t>2 – 3 hari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</a:rPr>
                        <a:t>Instan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7AE60"/>
                          </a:solidFill>
                        </a:rPr>
                        <a:t>100%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</a:rPr>
                        <a:t>Pencarian Tabungan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</a:rPr>
                        <a:t>10 – 15 menit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</a:rPr>
                        <a:t>&lt; 5 detik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7AE60"/>
                          </a:solidFill>
                        </a:rPr>
                        <a:t>99.3%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</a:rPr>
                        <a:t>Penggajian Guru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</a:rPr>
                        <a:t>4 – 5 jam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</a:rPr>
                        <a:t>10 – 15 menit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7AE60"/>
                          </a:solidFill>
                        </a:rPr>
                        <a:t>95.8%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E8F4F8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4C75"/>
                </a:solidFill>
              </a:rPr>
              <a:t>Hasil Black Box Testing: Seluruh 20 skenario pengujian utama (PASSED / Valid)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8345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400" b="1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Kesimpulan &amp; Saran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4572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Kesimpulan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840480" cy="182880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190500" tIns="190500" rIns="190500" bIns="190500" rtlCol="0" anchor="ctr"/>
          <a:lstStyle/>
          <a:p>
            <a:pPr marL="342900" indent="-342900">
              <a:lnSpc>
                <a:spcPts val="2500"/>
              </a:lnSpc>
              <a:buSzPct val="100000"/>
              <a:buChar char="✓"/>
            </a:pPr>
            <a:r>
              <a:rPr lang="en-US" sz="1600" dirty="0">
                <a:solidFill>
                  <a:srgbClr val="1B262C"/>
                </a:solidFill>
              </a:rPr>
              <a:t>Sistem Manajemen Keuangan Terintegrasi berhasil dibangun dengan </a:t>
            </a:r>
            <a:r>
              <a:rPr lang="en-US" sz="1600" b="1" dirty="0">
                <a:solidFill>
                  <a:srgbClr val="0F4C75"/>
                </a:solidFill>
              </a:rPr>
              <a:t>Laravel, React, dan Inertia.js.
</a:t>
            </a:r>
            <a:r>
              <a:rPr lang="en-US" sz="1600" dirty="0">
                <a:solidFill>
                  <a:srgbClr val="1B262C"/>
                </a:solidFill>
              </a:rPr>
              <a:t>Pengolahan data terbukti memotong </a:t>
            </a:r>
            <a:r>
              <a:rPr lang="en-US" sz="1600" dirty="0" err="1">
                <a:solidFill>
                  <a:srgbClr val="1B262C"/>
                </a:solidFill>
              </a:rPr>
              <a:t>durasi</a:t>
            </a:r>
            <a:r>
              <a:rPr lang="en-US" sz="1600" dirty="0">
                <a:solidFill>
                  <a:srgbClr val="1B262C"/>
                </a:solidFill>
              </a:rPr>
              <a:t> </a:t>
            </a:r>
            <a:r>
              <a:rPr lang="en-US" sz="1600" dirty="0" err="1">
                <a:solidFill>
                  <a:srgbClr val="1B262C"/>
                </a:solidFill>
              </a:rPr>
              <a:t>birokrasi</a:t>
            </a:r>
            <a:r>
              <a:rPr lang="en-US" sz="1600" dirty="0">
                <a:solidFill>
                  <a:srgbClr val="1B262C"/>
                </a:solidFill>
              </a:rPr>
              <a:t> dan mencapai akurasi </a:t>
            </a:r>
            <a:r>
              <a:rPr lang="en-US" sz="1600" dirty="0" err="1">
                <a:solidFill>
                  <a:srgbClr val="1B262C"/>
                </a:solidFill>
              </a:rPr>
              <a:t>kalkulasi</a:t>
            </a:r>
            <a:r>
              <a:rPr lang="en-US" sz="1600" dirty="0">
                <a:solidFill>
                  <a:srgbClr val="1B262C"/>
                </a:solidFill>
              </a:rPr>
              <a:t> </a:t>
            </a:r>
            <a:r>
              <a:rPr lang="en-US" sz="1600" b="1" dirty="0">
                <a:solidFill>
                  <a:srgbClr val="27AE60"/>
                </a:solidFill>
              </a:rPr>
              <a:t>99,99%.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46320" y="1097280"/>
            <a:ext cx="3840480" cy="4572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1097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Saran Pengembangan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46320" y="1554480"/>
            <a:ext cx="3840480" cy="182880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190500" tIns="190500" rIns="190500" bIns="190500" rtlCol="0" anchor="ctr"/>
          <a:lstStyle/>
          <a:p>
            <a:pPr marL="342900" indent="-342900">
              <a:lnSpc>
                <a:spcPts val="2500"/>
              </a:lnSpc>
              <a:buSzPct val="100000"/>
              <a:buChar char="✨"/>
            </a:pPr>
            <a:r>
              <a:rPr lang="en-US" sz="1500" dirty="0">
                <a:solidFill>
                  <a:srgbClr val="000000"/>
                </a:solidFill>
              </a:rPr>
              <a:t>Penambahan integrasi Payment Gateway otomatis.
Integrasi Notifikasi WhatsApp Gateway untuk penagihan.
Portal cek saldo tabungan mandiri bagi siswa/orang tua.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8345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800" b="1" dirty="0">
              <a:solidFill>
                <a:srgbClr val="FFFFFF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0" indent="0" algn="ctr">
              <a:buNone/>
            </a:pPr>
            <a:endParaRPr lang="en-US" sz="4800" b="1" dirty="0">
              <a:solidFill>
                <a:srgbClr val="FFFFFF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TERIMA KASIH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>
              <a:solidFill>
                <a:srgbClr val="BBE1FA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0" indent="0" algn="ctr">
              <a:buNone/>
            </a:pPr>
            <a:endParaRPr lang="en-US" sz="2400" dirty="0">
              <a:solidFill>
                <a:srgbClr val="BBE1FA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0" indent="0" algn="ctr">
              <a:buNone/>
            </a:pPr>
            <a:r>
              <a:rPr lang="en-US" sz="2400" dirty="0">
                <a:solidFill>
                  <a:srgbClr val="BBE1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Sesi Tanya Jawab (Q&amp;A)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0" y="2926080"/>
            <a:ext cx="2743200" cy="0"/>
          </a:xfrm>
          <a:prstGeom prst="line">
            <a:avLst/>
          </a:prstGeom>
          <a:noFill/>
          <a:ln w="25400">
            <a:solidFill>
              <a:srgbClr val="BBE1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474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536</Words>
  <Application>Microsoft Office PowerPoint</Application>
  <PresentationFormat>On-screen Show (16:9)</PresentationFormat>
  <Paragraphs>127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Andri Gugun</cp:lastModifiedBy>
  <cp:revision>4</cp:revision>
  <dcterms:created xsi:type="dcterms:W3CDTF">2026-07-23T06:37:38Z</dcterms:created>
  <dcterms:modified xsi:type="dcterms:W3CDTF">2026-07-23T06:45:52Z</dcterms:modified>
</cp:coreProperties>
</file>